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91840"/>
            <a:ext cx="9144000" cy="1851660"/>
          </a:xfrm>
          <a:prstGeom prst="rect">
            <a:avLst/>
          </a:prstGeom>
          <a:solidFill>
            <a:srgbClr val="0D1B6E"/>
          </a:solidFill>
          <a:ln w="12700">
            <a:solidFill>
              <a:srgbClr val="0D1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246120"/>
            <a:ext cx="9144000" cy="73152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300" kern="0" dirty="0">
                <a:solidFill>
                  <a:srgbClr val="FFFFFF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REGIONAL VEHICLE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300" kern="0" dirty="0">
                <a:solidFill>
                  <a:srgbClr val="FF8F00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SALES ANALYSIS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 |  FY2019–FY2024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Analytics Course Project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401568"/>
            <a:ext cx="1920240" cy="13716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5643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131.8M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" y="40690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Units Sold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0" y="3401568"/>
            <a:ext cx="1920240" cy="13716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345643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28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560320" y="40690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Covered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3401568"/>
            <a:ext cx="1920240" cy="13716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45643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5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663440" y="40690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Segments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66560" y="3401568"/>
            <a:ext cx="1920240" cy="13716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345643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6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766560" y="40690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Years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structured business questions across 4 categories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143000"/>
            <a:ext cx="4206240" cy="1691640"/>
          </a:xfrm>
          <a:prstGeom prst="rect">
            <a:avLst/>
          </a:prstGeom>
          <a:solidFill>
            <a:srgbClr val="E3F2F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143000"/>
            <a:ext cx="54864" cy="16916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161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Regional Demand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58191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BQ1: Which states &amp; regions lead in total sales volume?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112264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BQ2: Which states are growing fastest — emerging markets?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143000"/>
            <a:ext cx="4206240" cy="1691640"/>
          </a:xfrm>
          <a:prstGeom prst="rect">
            <a:avLst/>
          </a:prstGeom>
          <a:solidFill>
            <a:srgbClr val="E8F5E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143000"/>
            <a:ext cx="54864" cy="169164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2161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96B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Segment &amp; Mix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58191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BQ3: How does segment mix differ across regions?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2112264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BQ4: Which segments are growing / declining nationally?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" y="3017520"/>
            <a:ext cx="4206240" cy="1691640"/>
          </a:xfrm>
          <a:prstGeom prst="rect">
            <a:avLst/>
          </a:prstGeom>
          <a:solidFill>
            <a:srgbClr val="FFF3E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" y="3017520"/>
            <a:ext cx="54864" cy="16916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0906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EV &amp; Fuel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345643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BQ5: Which states lead EV adoption FY2019–FY2024?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3986784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BQ6: How is the fuel-type mix (Petrol/CNG/EV) shifting?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3017520"/>
            <a:ext cx="4206240" cy="1691640"/>
          </a:xfrm>
          <a:prstGeom prst="rect">
            <a:avLst/>
          </a:prstGeom>
          <a:solidFill>
            <a:srgbClr val="FCE4E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0" y="3017520"/>
            <a:ext cx="54864" cy="16916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30906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OEM &amp; Market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345643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BQ7: Which OEMs dominate which regions &amp; segments?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3986784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BQ8: What recommendations for OEMs, dealers, policymakers?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Vehicle Sales Analysis — India  |  FY2019–FY2024  |  Data Analytics Project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to SIAM FY2019–FY2024 national totals + VAHAN state-wise EV data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143000"/>
            <a:ext cx="3200400" cy="822960"/>
          </a:xfrm>
          <a:prstGeom prst="rect">
            <a:avLst/>
          </a:prstGeom>
          <a:solidFill>
            <a:srgbClr val="E3F2F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252728"/>
            <a:ext cx="32004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237E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131.8M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28600" y="1653235"/>
            <a:ext cx="320040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Units Sold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2075688"/>
            <a:ext cx="3200400" cy="822960"/>
          </a:xfrm>
          <a:prstGeom prst="rect">
            <a:avLst/>
          </a:prstGeom>
          <a:solidFill>
            <a:srgbClr val="E8F5E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2185416"/>
            <a:ext cx="32004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796B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3,360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28600" y="2585923"/>
            <a:ext cx="320040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× 10 Columns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3008376"/>
            <a:ext cx="3200400" cy="822960"/>
          </a:xfrm>
          <a:prstGeom prst="rect">
            <a:avLst/>
          </a:prstGeom>
          <a:solidFill>
            <a:srgbClr val="FFF3E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3118104"/>
            <a:ext cx="32004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65100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18 OEMs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28600" y="3518611"/>
            <a:ext cx="320040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" y="3941064"/>
            <a:ext cx="3200400" cy="822960"/>
          </a:xfrm>
          <a:prstGeom prst="rect">
            <a:avLst/>
          </a:prstGeom>
          <a:solidFill>
            <a:srgbClr val="FCE4E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4050792"/>
            <a:ext cx="32004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62828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R²=0.978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228600" y="4451299"/>
            <a:ext cx="320040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Model Fit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749040" y="1143000"/>
            <a:ext cx="2011680" cy="566928"/>
          </a:xfrm>
          <a:prstGeom prst="rect">
            <a:avLst/>
          </a:prstGeom>
          <a:solidFill>
            <a:srgbClr val="1A237E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1143000"/>
            <a:ext cx="2011680" cy="56692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760720" y="1143000"/>
            <a:ext cx="1097280" cy="566928"/>
          </a:xfrm>
          <a:prstGeom prst="rect">
            <a:avLst/>
          </a:prstGeom>
          <a:solidFill>
            <a:srgbClr val="1A237E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0" y="114300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FY2019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58000" y="1143000"/>
            <a:ext cx="1097280" cy="566928"/>
          </a:xfrm>
          <a:prstGeom prst="rect">
            <a:avLst/>
          </a:prstGeom>
          <a:solidFill>
            <a:srgbClr val="1A237E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114300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955280" y="1143000"/>
            <a:ext cx="1097280" cy="566928"/>
          </a:xfrm>
          <a:prstGeom prst="rect">
            <a:avLst/>
          </a:prstGeom>
          <a:solidFill>
            <a:srgbClr val="1A237E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55280" y="114300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749040" y="1764792"/>
            <a:ext cx="2011680" cy="566928"/>
          </a:xfrm>
          <a:prstGeom prst="rect">
            <a:avLst/>
          </a:prstGeom>
          <a:solidFill>
            <a:srgbClr val="F5F5F5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49040" y="1764792"/>
            <a:ext cx="2011680" cy="56692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Two-Wheeler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760720" y="1764792"/>
            <a:ext cx="1097280" cy="566928"/>
          </a:xfrm>
          <a:prstGeom prst="rect">
            <a:avLst/>
          </a:prstGeom>
          <a:solidFill>
            <a:srgbClr val="F5F5F5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60720" y="1764792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20.7M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858000" y="1764792"/>
            <a:ext cx="1097280" cy="566928"/>
          </a:xfrm>
          <a:prstGeom prst="rect">
            <a:avLst/>
          </a:prstGeom>
          <a:solidFill>
            <a:srgbClr val="F5F5F5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0" y="1764792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17.9M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955280" y="1764792"/>
            <a:ext cx="1097280" cy="566928"/>
          </a:xfrm>
          <a:prstGeom prst="rect">
            <a:avLst/>
          </a:prstGeom>
          <a:solidFill>
            <a:srgbClr val="F5F5F5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55280" y="1764792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-13.6%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749040" y="2386584"/>
            <a:ext cx="2011680" cy="566928"/>
          </a:xfrm>
          <a:prstGeom prst="rect">
            <a:avLst/>
          </a:prstGeom>
          <a:solidFill>
            <a:srgbClr val="F5F5F5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49040" y="2386584"/>
            <a:ext cx="2011680" cy="56692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Car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760720" y="2386584"/>
            <a:ext cx="1097280" cy="566928"/>
          </a:xfrm>
          <a:prstGeom prst="rect">
            <a:avLst/>
          </a:prstGeom>
          <a:solidFill>
            <a:srgbClr val="F5F5F5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60720" y="2386584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3.3M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858000" y="2386584"/>
            <a:ext cx="1097280" cy="566928"/>
          </a:xfrm>
          <a:prstGeom prst="rect">
            <a:avLst/>
          </a:prstGeom>
          <a:solidFill>
            <a:srgbClr val="F5F5F5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2386584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4.2M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955280" y="2386584"/>
            <a:ext cx="1097280" cy="566928"/>
          </a:xfrm>
          <a:prstGeom prst="rect">
            <a:avLst/>
          </a:prstGeom>
          <a:solidFill>
            <a:srgbClr val="F5F5F5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2386584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+26.3%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749040" y="3008376"/>
            <a:ext cx="2011680" cy="566928"/>
          </a:xfrm>
          <a:prstGeom prst="rect">
            <a:avLst/>
          </a:prstGeom>
          <a:solidFill>
            <a:srgbClr val="F5F5F5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749040" y="3008376"/>
            <a:ext cx="2011680" cy="56692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Vehicle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760720" y="3008376"/>
            <a:ext cx="1097280" cy="566928"/>
          </a:xfrm>
          <a:prstGeom prst="rect">
            <a:avLst/>
          </a:prstGeom>
          <a:solidFill>
            <a:srgbClr val="F5F5F5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60720" y="300837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0.85M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858000" y="3008376"/>
            <a:ext cx="1097280" cy="566928"/>
          </a:xfrm>
          <a:prstGeom prst="rect">
            <a:avLst/>
          </a:prstGeom>
          <a:solidFill>
            <a:srgbClr val="F5F5F5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58000" y="300837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0.96M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955280" y="3008376"/>
            <a:ext cx="1097280" cy="566928"/>
          </a:xfrm>
          <a:prstGeom prst="rect">
            <a:avLst/>
          </a:prstGeom>
          <a:solidFill>
            <a:srgbClr val="F5F5F5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955280" y="300837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+13.3%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749040" y="3630168"/>
            <a:ext cx="2011680" cy="566928"/>
          </a:xfrm>
          <a:prstGeom prst="rect">
            <a:avLst/>
          </a:prstGeom>
          <a:solidFill>
            <a:srgbClr val="F5F5F5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749040" y="3630168"/>
            <a:ext cx="2011680" cy="56692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Three-Wheeler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5760720" y="3630168"/>
            <a:ext cx="1097280" cy="566928"/>
          </a:xfrm>
          <a:prstGeom prst="rect">
            <a:avLst/>
          </a:prstGeom>
          <a:solidFill>
            <a:srgbClr val="F5F5F5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760720" y="363016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0.71M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858000" y="3630168"/>
            <a:ext cx="1097280" cy="566928"/>
          </a:xfrm>
          <a:prstGeom prst="rect">
            <a:avLst/>
          </a:prstGeom>
          <a:solidFill>
            <a:srgbClr val="F5F5F5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58000" y="363016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1.01M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7955280" y="3630168"/>
            <a:ext cx="1097280" cy="566928"/>
          </a:xfrm>
          <a:prstGeom prst="rect">
            <a:avLst/>
          </a:prstGeom>
          <a:solidFill>
            <a:srgbClr val="F5F5F5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955280" y="363016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+42.7%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3749040" y="4251960"/>
            <a:ext cx="2011680" cy="566928"/>
          </a:xfrm>
          <a:prstGeom prst="rect">
            <a:avLst/>
          </a:prstGeom>
          <a:solidFill>
            <a:srgbClr val="FCE4EC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749040" y="4251960"/>
            <a:ext cx="2011680" cy="56692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Vehicle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5760720" y="4251960"/>
            <a:ext cx="1097280" cy="566928"/>
          </a:xfrm>
          <a:prstGeom prst="rect">
            <a:avLst/>
          </a:prstGeom>
          <a:solidFill>
            <a:srgbClr val="FCE4EC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760720" y="425196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64K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6858000" y="4251960"/>
            <a:ext cx="1097280" cy="566928"/>
          </a:xfrm>
          <a:prstGeom prst="rect">
            <a:avLst/>
          </a:prstGeom>
          <a:solidFill>
            <a:srgbClr val="FCE4EC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858000" y="425196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1.62M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7955280" y="4251960"/>
            <a:ext cx="1097280" cy="566928"/>
          </a:xfrm>
          <a:prstGeom prst="rect">
            <a:avLst/>
          </a:prstGeom>
          <a:solidFill>
            <a:srgbClr val="FCE4EC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955280" y="425196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+2,430%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Vehicle Sales Analysis — India  |  FY2019–FY2024  |  Data Analytics Project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BQ1: Which Regions &amp; States Lead in Sales?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FY2019–FY2024 cumulative volume — North dominates, South close behind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97280"/>
            <a:ext cx="5669280" cy="3383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26480" y="1115568"/>
            <a:ext cx="2788920" cy="512064"/>
          </a:xfrm>
          <a:prstGeom prst="rect">
            <a:avLst/>
          </a:prstGeom>
          <a:solidFill>
            <a:srgbClr val="E3F2FD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236208" y="117043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North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223760" y="117043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63238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41.2M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092440" y="117043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31.2%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26480" y="1682496"/>
            <a:ext cx="2788920" cy="512064"/>
          </a:xfrm>
          <a:prstGeom prst="rect">
            <a:avLst/>
          </a:prstGeom>
          <a:solidFill>
            <a:srgbClr val="E8F5E9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36208" y="17373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96B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South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223760" y="173736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63238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39.0M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092440" y="173736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29.6%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126480" y="2249424"/>
            <a:ext cx="2788920" cy="512064"/>
          </a:xfrm>
          <a:prstGeom prst="rect">
            <a:avLst/>
          </a:prstGeom>
          <a:solidFill>
            <a:srgbClr val="FFF3E0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36208" y="230428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West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223760" y="230428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63238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23.6M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092440" y="230428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17.9%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26480" y="2816352"/>
            <a:ext cx="2788920" cy="512064"/>
          </a:xfrm>
          <a:prstGeom prst="rect">
            <a:avLst/>
          </a:prstGeom>
          <a:solidFill>
            <a:srgbClr val="F5F5F5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36208" y="287121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46E7A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East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223760" y="287121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63238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15.4M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092440" y="2871216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11.7%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126480" y="3383280"/>
            <a:ext cx="2788920" cy="512064"/>
          </a:xfrm>
          <a:prstGeom prst="rect">
            <a:avLst/>
          </a:prstGeom>
          <a:solidFill>
            <a:srgbClr val="F5F5F5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236208" y="343814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46E7A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Central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223760" y="343814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63238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9.7M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092440" y="3438144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7.3%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126480" y="3950208"/>
            <a:ext cx="2788920" cy="512064"/>
          </a:xfrm>
          <a:prstGeom prst="rect">
            <a:avLst/>
          </a:prstGeom>
          <a:solidFill>
            <a:srgbClr val="F5F5F5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36208" y="400507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46E7A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Northeast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223760" y="400507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63238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3.0M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092440" y="400507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2.3%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126480" y="4572000"/>
            <a:ext cx="278892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36208" y="4572000"/>
            <a:ext cx="2569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UP alone = 15.8M units (12% of national)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Vehicle Sales Analysis — India  |  FY2019–FY2024  |  Data Analytics Project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BQ3: How Does Segment Mix Differ Across Regions?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Two-Wheelers dominate everywhere — but South shows highest EV &amp; PV penetration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97280"/>
            <a:ext cx="5029200" cy="246888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097280"/>
            <a:ext cx="3520440" cy="36576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28600" y="3703320"/>
            <a:ext cx="50292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338328" y="3703320"/>
            <a:ext cx="480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2W share: 72% West → 82% Northeast. South has highest EV &amp; PV penetration.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Vehicle Sales Analysis — India  |  FY2019–FY2024  |  Data Analytics Project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BQ4: Which Segments Are Growing vs Declining?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grew 2,430% — Two-Wheeler is the only declining segment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97280"/>
            <a:ext cx="5120640" cy="237744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566160"/>
            <a:ext cx="5120640" cy="13716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577840" y="1115568"/>
            <a:ext cx="3337560" cy="658368"/>
          </a:xfrm>
          <a:prstGeom prst="rect">
            <a:avLst/>
          </a:prstGeom>
          <a:solidFill>
            <a:srgbClr val="FCE4EC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687568" y="120700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238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⚡ EV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7223760" y="120700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62828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+2,430%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5577840" y="1874520"/>
            <a:ext cx="3337560" cy="658368"/>
          </a:xfrm>
          <a:prstGeom prst="rect">
            <a:avLst/>
          </a:prstGeom>
          <a:solidFill>
            <a:srgbClr val="E8F5E9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687568" y="196596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238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🛺 3W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7223760" y="196596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796B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+42.7%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5577840" y="2633472"/>
            <a:ext cx="3337560" cy="658368"/>
          </a:xfrm>
          <a:prstGeom prst="rect">
            <a:avLst/>
          </a:prstGeom>
          <a:solidFill>
            <a:srgbClr val="E3F2FD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687568" y="272491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238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🚗 PV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223760" y="272491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+26.3%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5577840" y="3392424"/>
            <a:ext cx="3337560" cy="658368"/>
          </a:xfrm>
          <a:prstGeom prst="rect">
            <a:avLst/>
          </a:prstGeom>
          <a:solidFill>
            <a:srgbClr val="F5F5F5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687568" y="348386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238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🚛 CV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7223760" y="348386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46E7A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+13.3%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5577840" y="4151376"/>
            <a:ext cx="3337560" cy="658368"/>
          </a:xfrm>
          <a:prstGeom prst="rect">
            <a:avLst/>
          </a:prstGeom>
          <a:solidFill>
            <a:srgbClr val="FFF3E0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687568" y="4242816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238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🛵 2W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7223760" y="4242816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65100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-13.6%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Vehicle Sales Analysis — India  |  FY2019–FY2024  |  Data Analytics Project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BQ5: The EV Revolution — Who's Leading?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64K → 1.62M units in 6 years | Maharashtra, Karnataka &amp; Tamil Nadu lead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97280"/>
            <a:ext cx="5486400" cy="2743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89320" y="1115568"/>
            <a:ext cx="2926080" cy="594360"/>
          </a:xfrm>
          <a:prstGeom prst="rect">
            <a:avLst/>
          </a:prstGeom>
          <a:solidFill>
            <a:srgbClr val="FCE4EC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80760" y="120700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Maharashtra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0" y="120700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212K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0" y="1207008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13.1%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989320" y="1773936"/>
            <a:ext cx="2926080" cy="594360"/>
          </a:xfrm>
          <a:prstGeom prst="rect">
            <a:avLst/>
          </a:prstGeom>
          <a:solidFill>
            <a:srgbClr val="FCE4EC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80760" y="1865376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🥈 Karnataka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0" y="1865376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194K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229600" y="1865376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12.0%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89320" y="2432304"/>
            <a:ext cx="2926080" cy="594360"/>
          </a:xfrm>
          <a:prstGeom prst="rect">
            <a:avLst/>
          </a:prstGeom>
          <a:solidFill>
            <a:srgbClr val="FCE4EC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80760" y="2523744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🥉 Tamil Nadu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498080" y="2523744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161K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229600" y="2523744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9.9%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989320" y="3090672"/>
            <a:ext cx="2926080" cy="594360"/>
          </a:xfrm>
          <a:prstGeom prst="rect">
            <a:avLst/>
          </a:prstGeom>
          <a:solidFill>
            <a:srgbClr val="F5F5F5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80760" y="318211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Delhi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498080" y="3182112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140K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229600" y="318211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8.6%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989320" y="3749040"/>
            <a:ext cx="2926080" cy="594360"/>
          </a:xfrm>
          <a:prstGeom prst="rect">
            <a:avLst/>
          </a:prstGeom>
          <a:solidFill>
            <a:srgbClr val="F5F5F5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80760" y="38404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Gujarat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498080" y="38404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125K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229600" y="384048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7.7%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228600" y="3977640"/>
            <a:ext cx="5486400" cy="457200"/>
          </a:xfrm>
          <a:prstGeom prst="rect">
            <a:avLst/>
          </a:prstGeom>
          <a:solidFill>
            <a:srgbClr val="FCE4EC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38328" y="3977640"/>
            <a:ext cx="5266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National EV: 64K (FY2019) → 1.62M (FY2024) = +2,430% | MH CAGR = 103.8%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Vehicle Sales Analysis — India  |  FY2019–FY2024  |  Data Analytics Project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BQ6 &amp; BQ7: Fuel Transition &amp; OEM Dominance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share +5.3pp | Tata leads EVs, Maruti leads PV, Hero leads 2W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97280"/>
            <a:ext cx="4389120" cy="219456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383280"/>
            <a:ext cx="8686800" cy="15544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892040" y="1115568"/>
            <a:ext cx="4023360" cy="685800"/>
          </a:xfrm>
          <a:prstGeom prst="rect">
            <a:avLst/>
          </a:prstGeom>
          <a:solidFill>
            <a:srgbClr val="FFF3E0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001768" y="122529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3238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Petrol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989320" y="122529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FY19: 70.3%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7040880" y="122529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FY24: 66.9%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8092440" y="1225296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-3.4pp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892040" y="1920240"/>
            <a:ext cx="4023360" cy="685800"/>
          </a:xfrm>
          <a:prstGeom prst="rect">
            <a:avLst/>
          </a:prstGeom>
          <a:solidFill>
            <a:srgbClr val="FCE4EC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001768" y="202996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3238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Electric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989320" y="202996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FY19: 13.9%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040880" y="20299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FY24: 19.2%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8092440" y="202996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+5.3pp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892040" y="2724912"/>
            <a:ext cx="4023360" cy="685800"/>
          </a:xfrm>
          <a:prstGeom prst="rect">
            <a:avLst/>
          </a:prstGeom>
          <a:solidFill>
            <a:srgbClr val="F5F5F5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001768" y="28346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3238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CNG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5989320" y="2834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FY19: 10.6%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7040880" y="28346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FY24: 8.4%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8092440" y="28346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46E7A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-2.2pp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Vehicle Sales Analysis — India  |  FY2019–FY2024  |  Data Analytics Project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Analysis: State Market Tiers (KMeans Clustering)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k=4 clustering on sales volume, EV share, segment mix &amp; YoY growth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97280"/>
            <a:ext cx="5303520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06440" y="1115568"/>
            <a:ext cx="3108960" cy="804672"/>
          </a:xfrm>
          <a:prstGeom prst="rect">
            <a:avLst/>
          </a:prstGeom>
          <a:solidFill>
            <a:srgbClr val="FCE4EC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806440" y="1115568"/>
            <a:ext cx="54864" cy="804672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0" y="11704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32F2F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Tier 1: Metro Giants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43600" y="144475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MH, KA, TN, DL, GJ…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943600" y="164592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Prioritize EV &amp; premium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806440" y="2029968"/>
            <a:ext cx="3108960" cy="804672"/>
          </a:xfrm>
          <a:prstGeom prst="rect">
            <a:avLst/>
          </a:prstGeom>
          <a:solidFill>
            <a:srgbClr val="E3F2FD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806440" y="2029968"/>
            <a:ext cx="54864" cy="804672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0" y="20848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76D2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Tier 2: Large Markets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943600" y="235915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UP, RJ, MP, WB, Bihar…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943600" y="256032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Volume 2W + EV pilots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806440" y="2944368"/>
            <a:ext cx="3108960" cy="804672"/>
          </a:xfrm>
          <a:prstGeom prst="rect">
            <a:avLst/>
          </a:prstGeom>
          <a:solidFill>
            <a:srgbClr val="E8F5E9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806440" y="2944368"/>
            <a:ext cx="54864" cy="804672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43600" y="29992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8E3C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Tier 3: Mid Markets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943600" y="327355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Odisha, HP, J&amp;K, Assam…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943600" y="347472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CNG + entry PV focus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806440" y="3858768"/>
            <a:ext cx="3108960" cy="804672"/>
          </a:xfrm>
          <a:prstGeom prst="rect">
            <a:avLst/>
          </a:prstGeom>
          <a:solidFill>
            <a:srgbClr val="FFF3E0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806440" y="3858768"/>
            <a:ext cx="54864" cy="804672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43600" y="39136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7C00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Tier 4: Emerging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943600" y="418795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States, Sikkim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5943600" y="438912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Brand building opportunity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Vehicle Sales Analysis — India  |  FY2019–FY2024  |  Data Analytics Project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Forecast: FY2025 &amp; FY2026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 regression (degree=2) | R² = 0.978 | Captures COVID dip &amp; recovery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97280"/>
            <a:ext cx="5943600" cy="3017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92240" y="1097280"/>
            <a:ext cx="2423160" cy="1371600"/>
          </a:xfrm>
          <a:prstGeom prst="rect">
            <a:avLst/>
          </a:prstGeom>
          <a:solidFill>
            <a:srgbClr val="E3F2F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92240" y="11887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3238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FY2025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92240" y="153619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565C0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32.8M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492240" y="2103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92240" y="2651760"/>
            <a:ext cx="2423160" cy="1371600"/>
          </a:xfrm>
          <a:prstGeom prst="rect">
            <a:avLst/>
          </a:prstGeom>
          <a:solidFill>
            <a:srgbClr val="FCE4E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92240" y="27432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3238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FY2026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492240" y="309067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62828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41.9M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6492240" y="36576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28600" y="4206240"/>
            <a:ext cx="5943600" cy="41148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8328" y="4206240"/>
            <a:ext cx="5724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Strong post-COVID recovery momentum. EV acceleration is key upside risk beyond this forecast.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Vehicle Sales Analysis — India  |  FY2019–FY2024  |  Data Analytics Project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BQ8: Strategic Recommendations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insights for OEMs, Dealers, and Policymakers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01168" y="1097280"/>
            <a:ext cx="2880360" cy="3840480"/>
          </a:xfrm>
          <a:prstGeom prst="rect">
            <a:avLst/>
          </a:prstGeom>
          <a:solidFill>
            <a:srgbClr val="E3F2F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10896" y="117043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🏭  OEMs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1168" y="1554480"/>
            <a:ext cx="2880360" cy="3657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" y="1664208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EVs in Tier 1 markets first — MH, KA, TN, Delhi have the demand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0896" y="2670048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affordable EV 2W (sub ₹80K) for North India mass market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0896" y="3675888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new SUV launches — fastest-growing PV sub-segment nationally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097280"/>
            <a:ext cx="2880360" cy="3840480"/>
          </a:xfrm>
          <a:prstGeom prst="rect">
            <a:avLst/>
          </a:prstGeom>
          <a:solidFill>
            <a:srgbClr val="E8F5E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17043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96B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🏪  Dealers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46120" y="1554480"/>
            <a:ext cx="2880360" cy="36576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55848" y="1664208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South-state dealers: 25%+ showroom floor for EV models by FY2026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55848" y="2670048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North/East dealers: stock CNG 3W &amp; LCV variants alongside EV pilots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55848" y="3675888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Pre-load inventory for Q3 (Oct–Dec) — consistently 31.3% of annual sales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91072" y="1097280"/>
            <a:ext cx="2880360" cy="3840480"/>
          </a:xfrm>
          <a:prstGeom prst="rect">
            <a:avLst/>
          </a:prstGeom>
          <a:solidFill>
            <a:srgbClr val="FFF3E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117043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🏛️  Policymakers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91072" y="1554480"/>
            <a:ext cx="2880360" cy="36576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1664208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 charging infra spend in Tier 2 states (UP, RJ, MP, WB)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2670048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subsidies for EV 2W — addresses declining ICE 2W segment directly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3675888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state incentive programs to unlock high-growth emerging markets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Vehicle Sales Analysis — India  |  FY2019–FY2024  |  Data Analytics Project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D1B6E"/>
          </a:solidFill>
          <a:ln w="12700">
            <a:solidFill>
              <a:srgbClr val="0D1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43400"/>
            <a:ext cx="9144000" cy="54864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100" kern="0" dirty="0">
                <a:solidFill>
                  <a:srgbClr val="FF8F00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1005840"/>
          </a:xfrm>
          <a:prstGeom prst="rect">
            <a:avLst/>
          </a:prstGeom>
          <a:solidFill>
            <a:srgbClr val="FFFFFF">
              <a:alpha val="12000"/>
            </a:srgbClr>
          </a:solidFill>
          <a:ln w="10160">
            <a:solidFill>
              <a:srgbClr val="FF8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78408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97280" y="91440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F00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EV is the defining story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28016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64K → 1.62M units (+2,430%) in 6 years. EV strategy is no longer optional for any Indian OEM.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011680"/>
            <a:ext cx="8412480" cy="1005840"/>
          </a:xfrm>
          <a:prstGeom prst="rect">
            <a:avLst/>
          </a:prstGeom>
          <a:solidFill>
            <a:srgbClr val="FFFFFF">
              <a:alpha val="12000"/>
            </a:srgbClr>
          </a:solidFill>
          <a:ln w="10160">
            <a:solidFill>
              <a:srgbClr val="FF8F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121408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🗺️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097280" y="205740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F00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North drives volume, South drives growth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242316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= 31.2% of sales (2W volume). South leads EV adoption &amp; premium segments — strategic priority for OEMs.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154680"/>
            <a:ext cx="8412480" cy="1005840"/>
          </a:xfrm>
          <a:prstGeom prst="rect">
            <a:avLst/>
          </a:prstGeom>
          <a:solidFill>
            <a:srgbClr val="FFFFFF">
              <a:alpha val="12000"/>
            </a:srgbClr>
          </a:solidFill>
          <a:ln w="10160">
            <a:solidFill>
              <a:srgbClr val="FF8F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264408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🏆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097280" y="320040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F00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Market is highly concentrated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356616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states = 50% of sales. Top 2 OEMs control 40% of volume. Real opportunity = Tier 2-3 states + EV infra.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" y="44348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Vehicle Sales Analysis — India  |  Data Analytics Project  |  FY2019–FY2024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Regional Vehicle Sales Analysis — India</dc:title>
  <dc:subject>PptxGenJS Presentation</dc:subject>
  <dc:creator>RVSA Project</dc:creator>
  <cp:lastModifiedBy>RVSA Project</cp:lastModifiedBy>
  <cp:revision>1</cp:revision>
  <dcterms:created xsi:type="dcterms:W3CDTF">2026-04-11T14:21:53Z</dcterms:created>
  <dcterms:modified xsi:type="dcterms:W3CDTF">2026-04-11T14:21:53Z</dcterms:modified>
</cp:coreProperties>
</file>